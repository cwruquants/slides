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6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y="6858000" cx="12192000"/>
  <p:notesSz cx="6858000" cy="9144000"/>
  <p:embeddedFontLst>
    <p:embeddedFont>
      <p:font typeface="Spectral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hPn/PH6gVEH3GKPhpcPS7fXHaTV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Ethan Fang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74AA58-8420-49D2-813C-30D30FF1ACAB}">
  <a:tblStyle styleId="{9D74AA58-8420-49D2-813C-30D30FF1AC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Spectral-bold.fntdata"/><Relationship Id="rId12" Type="http://schemas.openxmlformats.org/officeDocument/2006/relationships/slide" Target="slides/slide5.xml"/><Relationship Id="rId34" Type="http://schemas.openxmlformats.org/officeDocument/2006/relationships/font" Target="fonts/Spectral-regular.fntdata"/><Relationship Id="rId15" Type="http://schemas.openxmlformats.org/officeDocument/2006/relationships/slide" Target="slides/slide8.xml"/><Relationship Id="rId37" Type="http://schemas.openxmlformats.org/officeDocument/2006/relationships/font" Target="fonts/Spectral-boldItalic.fntdata"/><Relationship Id="rId14" Type="http://schemas.openxmlformats.org/officeDocument/2006/relationships/slide" Target="slides/slide7.xml"/><Relationship Id="rId36" Type="http://schemas.openxmlformats.org/officeDocument/2006/relationships/font" Target="fonts/Spectral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customschemas.google.com/relationships/presentationmetadata" Target="meta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1-05T23:58:12.617">
    <p:pos x="639" y="1565"/>
    <p:text>ethan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vQP-ldc"/>
      </p:ext>
    </p:extLst>
  </p:cm>
  <p:cm authorId="0" idx="2" dt="2025-11-07T15:42:52.748">
    <p:pos x="639" y="1665"/>
    <p:text>@sxj803@case.edu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toyHxnQ"/>
      </p:ext>
    </p:extLst>
  </p:cm>
  <p:cm authorId="0" idx="3" dt="2025-11-05T16:22:38.431">
    <p:pos x="639" y="1765"/>
    <p:text>@awm65@case.edu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vPLcx30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CHristo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Christo</a:t>
            </a:r>
            <a:endParaRPr/>
          </a:p>
        </p:txBody>
      </p:sp>
      <p:sp>
        <p:nvSpPr>
          <p:cNvPr id="115" name="Google Shape;11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12bdd8b8e_3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a12bdd8b8e_3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3a12bdd8b8e_3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12bdd8b8e_3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a12bdd8b8e_3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3a12bdd8b8e_3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12bdd8b8e_3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a12bdd8b8e_3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3a12bdd8b8e_3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12bdd8b8e_3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a12bdd8b8e_3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3a12bdd8b8e_3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12bdd8b8e_3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12bdd8b8e_3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a12bdd8b8e_3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1228b536a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81228b536a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Christo</a:t>
            </a:r>
            <a:endParaRPr/>
          </a:p>
        </p:txBody>
      </p:sp>
      <p:sp>
        <p:nvSpPr>
          <p:cNvPr id="152" name="Google Shape;152;g381228b536a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12bdd8b8e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a12bdd8b8e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3a12bdd8b8e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12bdd8b8e_3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a12bdd8b8e_3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3a12bdd8b8e_3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12bdd8b8e_3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a12bdd8b8e_3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3a12bdd8b8e_3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0a9c9f1d3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a0a9c9f1d3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Christo</a:t>
            </a:r>
            <a:endParaRPr/>
          </a:p>
        </p:txBody>
      </p:sp>
      <p:sp>
        <p:nvSpPr>
          <p:cNvPr id="179" name="Google Shape;179;g3a0a9c9f1d3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12bdd8b8e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a12bdd8b8e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3a12bdd8b8e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12bdd8b8e_2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a12bdd8b8e_2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a12bdd8b8e_2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12bdd8b8e_2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a12bdd8b8e_2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g3a12bdd8b8e_2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0fe1b2c75_0_2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a0fe1b2c75_0_2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g3a0fe1b2c75_0_2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0fe1b2c75_0_2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a0fe1b2c75_0_2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g3a0fe1b2c75_0_2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12bdd8b8e_2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a12bdd8b8e_2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g3a12bdd8b8e_2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0c3803f45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a0c3803f45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Christo</a:t>
            </a:r>
            <a:endParaRPr/>
          </a:p>
        </p:txBody>
      </p:sp>
      <p:sp>
        <p:nvSpPr>
          <p:cNvPr id="231" name="Google Shape;231;g3a0c3803f45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12bdd8b8e_3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a12bdd8b8e_3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g3a12bdd8b8e_3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162587e1d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a162587e1d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g3a162587e1d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0c3803f4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a0c3803f4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Christo</a:t>
            </a:r>
            <a:endParaRPr/>
          </a:p>
        </p:txBody>
      </p:sp>
      <p:sp>
        <p:nvSpPr>
          <p:cNvPr id="251" name="Google Shape;251;g3a0c3803f4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12bdd8b8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3a12bdd8b8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g3a12bdd8b8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12bdd8b8e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a12bdd8b8e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g3a12bdd8b8e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8980c813b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28980c813b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CHristo</a:t>
            </a:r>
            <a:endParaRPr/>
          </a:p>
        </p:txBody>
      </p:sp>
      <p:sp>
        <p:nvSpPr>
          <p:cNvPr id="271" name="Google Shape;271;g28980c813b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Sid</a:t>
            </a:r>
            <a:endParaRPr/>
          </a:p>
        </p:txBody>
      </p:sp>
      <p:sp>
        <p:nvSpPr>
          <p:cNvPr id="284" name="Google Shape;28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441918" y="3329790"/>
            <a:ext cx="4941771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" name="Google Shape;17;p15"/>
          <p:cNvPicPr preferRelativeResize="0"/>
          <p:nvPr/>
        </p:nvPicPr>
        <p:blipFill rotWithShape="1">
          <a:blip r:embed="rId2">
            <a:alphaModFix/>
          </a:blip>
          <a:srcRect b="-1" l="9358" r="0" t="23650"/>
          <a:stretch/>
        </p:blipFill>
        <p:spPr>
          <a:xfrm>
            <a:off x="0" y="0"/>
            <a:ext cx="9488312" cy="5054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1">
  <p:cSld name="Table 1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4"/>
          <p:cNvSpPr txBox="1"/>
          <p:nvPr>
            <p:ph type="title"/>
          </p:nvPr>
        </p:nvSpPr>
        <p:spPr>
          <a:xfrm>
            <a:off x="838201" y="895350"/>
            <a:ext cx="3247662" cy="19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" type="body"/>
          </p:nvPr>
        </p:nvSpPr>
        <p:spPr>
          <a:xfrm>
            <a:off x="838200" y="2813049"/>
            <a:ext cx="3247662" cy="32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1" type="ftr"/>
          </p:nvPr>
        </p:nvSpPr>
        <p:spPr>
          <a:xfrm>
            <a:off x="731615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2" type="sldNum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3" name="Google Shape;23;p24"/>
          <p:cNvGrpSpPr/>
          <p:nvPr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24" name="Google Shape;24;p24"/>
            <p:cNvCxnSpPr/>
            <p:nvPr/>
          </p:nvCxnSpPr>
          <p:spPr>
            <a:xfrm flipH="1">
              <a:off x="0" y="0"/>
              <a:ext cx="1238250" cy="31051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" name="Google Shape;25;p24"/>
            <p:cNvCxnSpPr/>
            <p:nvPr/>
          </p:nvCxnSpPr>
          <p:spPr>
            <a:xfrm flipH="1">
              <a:off x="0" y="0"/>
              <a:ext cx="2238376" cy="2476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 type="obj">
  <p:cSld name="OBJECT">
    <p:bg>
      <p:bgPr>
        <a:solidFill>
          <a:schemeClr val="dk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6"/>
          <p:cNvPicPr preferRelativeResize="0"/>
          <p:nvPr/>
        </p:nvPicPr>
        <p:blipFill rotWithShape="1">
          <a:blip r:embed="rId2">
            <a:alphaModFix/>
          </a:blip>
          <a:srcRect b="23070" l="0" r="28339" t="1830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6"/>
          <p:cNvSpPr txBox="1"/>
          <p:nvPr>
            <p:ph type="title"/>
          </p:nvPr>
        </p:nvSpPr>
        <p:spPr>
          <a:xfrm>
            <a:off x="1333500" y="1020445"/>
            <a:ext cx="289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1333500" y="2674013"/>
            <a:ext cx="2895600" cy="32695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1" type="ftr"/>
          </p:nvPr>
        </p:nvSpPr>
        <p:spPr>
          <a:xfrm>
            <a:off x="1333500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3">
  <p:cSld name="Section Break 3"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0"/>
          <p:cNvSpPr txBox="1"/>
          <p:nvPr>
            <p:ph type="ctrTitle"/>
          </p:nvPr>
        </p:nvSpPr>
        <p:spPr>
          <a:xfrm>
            <a:off x="6991350" y="406400"/>
            <a:ext cx="4179570" cy="34579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4" name="Google Shape;3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28675"/>
            <a:ext cx="5876925" cy="52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2">
  <p:cSld name="Table 2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36;p26"/>
          <p:cNvGrpSpPr/>
          <p:nvPr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37" name="Google Shape;37;p26"/>
            <p:cNvCxnSpPr/>
            <p:nvPr/>
          </p:nvCxnSpPr>
          <p:spPr>
            <a:xfrm flipH="1" rot="10800000">
              <a:off x="0" y="0"/>
              <a:ext cx="25908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" name="Google Shape;38;p26"/>
            <p:cNvCxnSpPr/>
            <p:nvPr/>
          </p:nvCxnSpPr>
          <p:spPr>
            <a:xfrm flipH="1">
              <a:off x="0" y="0"/>
              <a:ext cx="704850" cy="102790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9" name="Google Shape;39;p26"/>
          <p:cNvSpPr txBox="1"/>
          <p:nvPr>
            <p:ph type="title"/>
          </p:nvPr>
        </p:nvSpPr>
        <p:spPr>
          <a:xfrm>
            <a:off x="838200" y="353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1" type="ftr"/>
          </p:nvPr>
        </p:nvSpPr>
        <p:spPr>
          <a:xfrm>
            <a:off x="838200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12" type="sldNum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 type="title">
  <p:cSld name="TITLE"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7"/>
          <p:cNvSpPr txBox="1"/>
          <p:nvPr>
            <p:ph type="ctrTitle"/>
          </p:nvPr>
        </p:nvSpPr>
        <p:spPr>
          <a:xfrm>
            <a:off x="4267200" y="1615736"/>
            <a:ext cx="4179570" cy="15247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" type="subTitle"/>
          </p:nvPr>
        </p:nvSpPr>
        <p:spPr>
          <a:xfrm>
            <a:off x="4267200" y="3238103"/>
            <a:ext cx="4179570" cy="2850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45" name="Google Shape;45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317693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7"/>
          <p:cNvSpPr txBox="1"/>
          <p:nvPr>
            <p:ph idx="11" type="ftr"/>
          </p:nvPr>
        </p:nvSpPr>
        <p:spPr>
          <a:xfrm>
            <a:off x="4267200" y="6356350"/>
            <a:ext cx="417957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2" type="sldNum"/>
          </p:nvPr>
        </p:nvSpPr>
        <p:spPr>
          <a:xfrm>
            <a:off x="9579428" y="6356350"/>
            <a:ext cx="17743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2">
  <p:cSld name="Section Break 2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type="ctrTitle"/>
          </p:nvPr>
        </p:nvSpPr>
        <p:spPr>
          <a:xfrm>
            <a:off x="6991350" y="487680"/>
            <a:ext cx="4179570" cy="33766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0" name="Google Shape;50;p18"/>
          <p:cNvCxnSpPr/>
          <p:nvPr/>
        </p:nvCxnSpPr>
        <p:spPr>
          <a:xfrm>
            <a:off x="3990667" y="0"/>
            <a:ext cx="1126278" cy="2512291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" name="Google Shape;51;p18"/>
          <p:cNvSpPr/>
          <p:nvPr>
            <p:ph idx="2" type="pic"/>
          </p:nvPr>
        </p:nvSpPr>
        <p:spPr>
          <a:xfrm>
            <a:off x="0" y="-5080"/>
            <a:ext cx="6576291" cy="687260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2">
  <p:cSld name="Two Content 2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/>
          <p:nvPr>
            <p:ph type="title"/>
          </p:nvPr>
        </p:nvSpPr>
        <p:spPr>
          <a:xfrm>
            <a:off x="1341120" y="558801"/>
            <a:ext cx="9953308" cy="17808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4" name="Google Shape;54;p22"/>
          <p:cNvGrpSpPr/>
          <p:nvPr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55" name="Google Shape;55;p22"/>
            <p:cNvCxnSpPr/>
            <p:nvPr/>
          </p:nvCxnSpPr>
          <p:spPr>
            <a:xfrm rot="10800000">
              <a:off x="7334250" y="0"/>
              <a:ext cx="485775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" name="Google Shape;56;p22"/>
            <p:cNvCxnSpPr/>
            <p:nvPr/>
          </p:nvCxnSpPr>
          <p:spPr>
            <a:xfrm>
              <a:off x="11487150" y="0"/>
              <a:ext cx="704850" cy="17240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7" name="Google Shape;57;p22"/>
          <p:cNvSpPr txBox="1"/>
          <p:nvPr>
            <p:ph idx="1" type="body"/>
          </p:nvPr>
        </p:nvSpPr>
        <p:spPr>
          <a:xfrm>
            <a:off x="1341120" y="2960877"/>
            <a:ext cx="2722880" cy="351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22"/>
          <p:cNvSpPr txBox="1"/>
          <p:nvPr>
            <p:ph idx="2" type="body"/>
          </p:nvPr>
        </p:nvSpPr>
        <p:spPr>
          <a:xfrm>
            <a:off x="1341120" y="3392035"/>
            <a:ext cx="2722880" cy="2907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 b="0"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LcPeriod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arenR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LcParenR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romanLcPeriod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3" type="body"/>
          </p:nvPr>
        </p:nvSpPr>
        <p:spPr>
          <a:xfrm>
            <a:off x="4754881" y="2960877"/>
            <a:ext cx="5516880" cy="351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22"/>
          <p:cNvSpPr txBox="1"/>
          <p:nvPr>
            <p:ph idx="4" type="body"/>
          </p:nvPr>
        </p:nvSpPr>
        <p:spPr>
          <a:xfrm>
            <a:off x="4754881" y="3324859"/>
            <a:ext cx="5506720" cy="3031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1" type="ftr"/>
          </p:nvPr>
        </p:nvSpPr>
        <p:spPr>
          <a:xfrm>
            <a:off x="1333500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12" type="sldNum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1">
  <p:cSld name="Two Content 1">
    <p:bg>
      <p:bgPr>
        <a:solidFill>
          <a:schemeClr val="accen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21"/>
          <p:cNvPicPr preferRelativeResize="0"/>
          <p:nvPr/>
        </p:nvPicPr>
        <p:blipFill rotWithShape="1">
          <a:blip r:embed="rId2">
            <a:alphaModFix/>
          </a:blip>
          <a:srcRect b="22673" l="39434" r="0" t="20278"/>
          <a:stretch/>
        </p:blipFill>
        <p:spPr>
          <a:xfrm>
            <a:off x="25785" y="0"/>
            <a:ext cx="4093633" cy="391239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1"/>
          <p:cNvSpPr txBox="1"/>
          <p:nvPr>
            <p:ph type="title"/>
          </p:nvPr>
        </p:nvSpPr>
        <p:spPr>
          <a:xfrm>
            <a:off x="2933700" y="568961"/>
            <a:ext cx="8420100" cy="17808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" type="body"/>
          </p:nvPr>
        </p:nvSpPr>
        <p:spPr>
          <a:xfrm>
            <a:off x="2933700" y="2797255"/>
            <a:ext cx="3924300" cy="464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21"/>
          <p:cNvSpPr txBox="1"/>
          <p:nvPr>
            <p:ph idx="2" type="body"/>
          </p:nvPr>
        </p:nvSpPr>
        <p:spPr>
          <a:xfrm>
            <a:off x="2933700" y="3251596"/>
            <a:ext cx="3943627" cy="3234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1"/>
          <p:cNvSpPr txBox="1"/>
          <p:nvPr>
            <p:ph idx="3" type="body"/>
          </p:nvPr>
        </p:nvSpPr>
        <p:spPr>
          <a:xfrm>
            <a:off x="7410173" y="2797255"/>
            <a:ext cx="3943627" cy="464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9" name="Google Shape;69;p21"/>
          <p:cNvSpPr txBox="1"/>
          <p:nvPr>
            <p:ph idx="4" type="body"/>
          </p:nvPr>
        </p:nvSpPr>
        <p:spPr>
          <a:xfrm>
            <a:off x="7410173" y="3251595"/>
            <a:ext cx="3943627" cy="3234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2969260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1">
  <p:cSld name="Section Break 1">
    <p:bg>
      <p:bgPr>
        <a:solidFill>
          <a:schemeClr val="accen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ctrTitle"/>
          </p:nvPr>
        </p:nvSpPr>
        <p:spPr>
          <a:xfrm>
            <a:off x="6991350" y="487018"/>
            <a:ext cx="4179570" cy="33773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4" name="Google Shape;74;p17"/>
          <p:cNvGrpSpPr/>
          <p:nvPr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75" name="Google Shape;75;p17"/>
            <p:cNvCxnSpPr/>
            <p:nvPr/>
          </p:nvCxnSpPr>
          <p:spPr>
            <a:xfrm rot="10800000">
              <a:off x="0" y="876300"/>
              <a:ext cx="4762500" cy="16287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" name="Google Shape;76;p17"/>
            <p:cNvCxnSpPr/>
            <p:nvPr/>
          </p:nvCxnSpPr>
          <p:spPr>
            <a:xfrm rot="10800000">
              <a:off x="2638425" y="0"/>
              <a:ext cx="2124076" cy="51863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5"/>
          <p:cNvSpPr txBox="1"/>
          <p:nvPr>
            <p:ph type="title"/>
          </p:nvPr>
        </p:nvSpPr>
        <p:spPr>
          <a:xfrm>
            <a:off x="838200" y="337192"/>
            <a:ext cx="5655197" cy="19978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" type="body"/>
          </p:nvPr>
        </p:nvSpPr>
        <p:spPr>
          <a:xfrm>
            <a:off x="838200" y="2705177"/>
            <a:ext cx="5733772" cy="448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0" name="Google Shape;80;p25"/>
          <p:cNvSpPr txBox="1"/>
          <p:nvPr>
            <p:ph idx="2" type="body"/>
          </p:nvPr>
        </p:nvSpPr>
        <p:spPr>
          <a:xfrm>
            <a:off x="838199" y="3154166"/>
            <a:ext cx="5733773" cy="30327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3" type="body"/>
          </p:nvPr>
        </p:nvSpPr>
        <p:spPr>
          <a:xfrm>
            <a:off x="7887108" y="2705177"/>
            <a:ext cx="3943627" cy="4489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2" name="Google Shape;82;p25"/>
          <p:cNvSpPr txBox="1"/>
          <p:nvPr>
            <p:ph idx="4" type="body"/>
          </p:nvPr>
        </p:nvSpPr>
        <p:spPr>
          <a:xfrm>
            <a:off x="7887107" y="3164867"/>
            <a:ext cx="3943627" cy="30327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843986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5" name="Google Shape;85;p25"/>
          <p:cNvPicPr preferRelativeResize="0"/>
          <p:nvPr/>
        </p:nvPicPr>
        <p:blipFill rotWithShape="1">
          <a:blip r:embed="rId2">
            <a:alphaModFix/>
          </a:blip>
          <a:srcRect b="73496" l="18645" r="28732" t="319"/>
          <a:stretch/>
        </p:blipFill>
        <p:spPr>
          <a:xfrm flipH="1" rot="10800000">
            <a:off x="6308436" y="-11"/>
            <a:ext cx="5883564" cy="236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Introduc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1322318" y="268360"/>
            <a:ext cx="7288282" cy="21211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1322388" y="2763078"/>
            <a:ext cx="7288212" cy="34070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89" name="Google Shape;89;p19"/>
          <p:cNvGrpSpPr/>
          <p:nvPr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90" name="Google Shape;90;p19"/>
            <p:cNvCxnSpPr/>
            <p:nvPr/>
          </p:nvCxnSpPr>
          <p:spPr>
            <a:xfrm>
              <a:off x="9096375" y="1497012"/>
              <a:ext cx="3095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" name="Google Shape;91;p19"/>
            <p:cNvCxnSpPr/>
            <p:nvPr/>
          </p:nvCxnSpPr>
          <p:spPr>
            <a:xfrm flipH="1">
              <a:off x="9381744" y="-25401"/>
              <a:ext cx="2810256" cy="688340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2" name="Google Shape;92;p19"/>
          <p:cNvCxnSpPr/>
          <p:nvPr/>
        </p:nvCxnSpPr>
        <p:spPr>
          <a:xfrm flipH="1" rot="10800000">
            <a:off x="-1" y="-25403"/>
            <a:ext cx="1210573" cy="204816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1333500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">
  <p:cSld name="Summar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Google Shape;96;p23"/>
          <p:cNvCxnSpPr/>
          <p:nvPr/>
        </p:nvCxnSpPr>
        <p:spPr>
          <a:xfrm rot="10800000">
            <a:off x="3094182" y="0"/>
            <a:ext cx="1745673" cy="389774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23"/>
          <p:cNvSpPr txBox="1"/>
          <p:nvPr>
            <p:ph type="title"/>
          </p:nvPr>
        </p:nvSpPr>
        <p:spPr>
          <a:xfrm>
            <a:off x="5476874" y="1671639"/>
            <a:ext cx="5884027" cy="1204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3"/>
          <p:cNvSpPr/>
          <p:nvPr>
            <p:ph idx="2" type="pic"/>
          </p:nvPr>
        </p:nvSpPr>
        <p:spPr>
          <a:xfrm>
            <a:off x="-28230" y="-9144"/>
            <a:ext cx="5481955" cy="6876288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3"/>
          <p:cNvSpPr txBox="1"/>
          <p:nvPr>
            <p:ph idx="11" type="ftr"/>
          </p:nvPr>
        </p:nvSpPr>
        <p:spPr>
          <a:xfrm>
            <a:off x="825500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23"/>
          <p:cNvSpPr txBox="1"/>
          <p:nvPr>
            <p:ph idx="1" type="body"/>
          </p:nvPr>
        </p:nvSpPr>
        <p:spPr>
          <a:xfrm>
            <a:off x="5453725" y="3660774"/>
            <a:ext cx="5907176" cy="2536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"/>
          <p:cNvSpPr txBox="1"/>
          <p:nvPr>
            <p:ph type="ctrTitle"/>
          </p:nvPr>
        </p:nvSpPr>
        <p:spPr>
          <a:xfrm>
            <a:off x="3620050" y="3859175"/>
            <a:ext cx="82671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6000">
                <a:latin typeface="Spectral"/>
                <a:ea typeface="Spectral"/>
                <a:cs typeface="Spectral"/>
                <a:sym typeface="Spectral"/>
              </a:rPr>
              <a:t>Welcome! </a:t>
            </a:r>
            <a:endParaRPr sz="60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6000">
                <a:latin typeface="Spectral"/>
                <a:ea typeface="Spectral"/>
                <a:cs typeface="Spectral"/>
                <a:sym typeface="Spectral"/>
              </a:rPr>
              <a:t>Please, have a seat.</a:t>
            </a:r>
            <a:endParaRPr sz="60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802975" y="342200"/>
            <a:ext cx="3000000" cy="19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1" lang="en-US" sz="35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CWRU Quants</a:t>
            </a:r>
            <a:endParaRPr b="0" i="1" sz="3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1" lang="en-US" sz="25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quants@case.edu</a:t>
            </a:r>
            <a:endParaRPr b="0" i="1" sz="2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1" sz="3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1" sz="3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 txBox="1"/>
          <p:nvPr>
            <p:ph type="title"/>
          </p:nvPr>
        </p:nvSpPr>
        <p:spPr>
          <a:xfrm>
            <a:off x="1333500" y="1020445"/>
            <a:ext cx="289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AGENDA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1015225" y="2484450"/>
            <a:ext cx="5438400" cy="20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Research Vertical Updates</a:t>
            </a:r>
            <a:endParaRPr sz="18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Intro to</a:t>
            </a:r>
            <a:r>
              <a:rPr lang="en-US" sz="18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 Exotic Options</a:t>
            </a:r>
            <a:endParaRPr sz="18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Examples of Exotic Options</a:t>
            </a:r>
            <a:endParaRPr sz="18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Live example</a:t>
            </a:r>
            <a:endParaRPr sz="18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[ risks of exotic options and modeling ]</a:t>
            </a:r>
            <a:endParaRPr sz="18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g3a12bdd8b8e_3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8752" y="602475"/>
            <a:ext cx="9094499" cy="565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g3a12bdd8b8e_3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4950" y="521100"/>
            <a:ext cx="9382101" cy="581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g3a12bdd8b8e_3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587" y="882723"/>
            <a:ext cx="10220824" cy="5092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3a12bdd8b8e_3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1113" y="863450"/>
            <a:ext cx="10309775" cy="51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12bdd8b8e_3_76"/>
          <p:cNvSpPr txBox="1"/>
          <p:nvPr/>
        </p:nvSpPr>
        <p:spPr>
          <a:xfrm>
            <a:off x="1013550" y="1181700"/>
            <a:ext cx="101649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What’s next? 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-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2016 was sort of a normal year for the market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-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Running on 2018 and 2020 transcripts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-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2018: major tech </a:t>
            </a: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companies like Square and Nvidia fell around 50%, due to trade fears with slowing Chinese economy, Fed raising interest rates, and people worried about a late 2019 economic crash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-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2020: Covid, v-shaped recovery, tech boom, major players like Zoom, Teledoc Health, etc.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-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Keyword analysis: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-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risk, politics, trade, etc.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1228b536a_1_0"/>
          <p:cNvSpPr txBox="1"/>
          <p:nvPr>
            <p:ph type="ctrTitle"/>
          </p:nvPr>
        </p:nvSpPr>
        <p:spPr>
          <a:xfrm>
            <a:off x="6991350" y="863600"/>
            <a:ext cx="4179600" cy="3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Intro to Exotics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12bdd8b8e_3_0"/>
          <p:cNvSpPr txBox="1"/>
          <p:nvPr/>
        </p:nvSpPr>
        <p:spPr>
          <a:xfrm>
            <a:off x="1705325" y="861825"/>
            <a:ext cx="83433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American and European options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61" name="Google Shape;161;g3a12bdd8b8e_3_0"/>
          <p:cNvSpPr txBox="1"/>
          <p:nvPr/>
        </p:nvSpPr>
        <p:spPr>
          <a:xfrm>
            <a:off x="230225" y="1925375"/>
            <a:ext cx="11293500" cy="3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Review: What is the difference between American and European options?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Exotics are </a:t>
            </a: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hybrids</a:t>
            </a: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of American and European options and often fall somewhere between them. (Catch all term for anything that isn’t a traditional put/call)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12bdd8b8e_3_7"/>
          <p:cNvSpPr txBox="1"/>
          <p:nvPr/>
        </p:nvSpPr>
        <p:spPr>
          <a:xfrm>
            <a:off x="1705325" y="861825"/>
            <a:ext cx="83433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But why?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68" name="Google Shape;168;g3a12bdd8b8e_3_7"/>
          <p:cNvSpPr txBox="1"/>
          <p:nvPr/>
        </p:nvSpPr>
        <p:spPr>
          <a:xfrm>
            <a:off x="230225" y="1925375"/>
            <a:ext cx="11293500" cy="3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Exotic options are traded in the over-the-counter market, rather than major exchanges like the New York Stock Exchange (NYSE).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-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they are typically customized to whatever the buy/seller needs for their portfolio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-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specific commodities such as corn, oil, natural gas, equities, bonds, etc.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-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forex options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-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probably some crypto options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12bdd8b8e_3_14"/>
          <p:cNvSpPr txBox="1"/>
          <p:nvPr/>
        </p:nvSpPr>
        <p:spPr>
          <a:xfrm>
            <a:off x="1705325" y="861825"/>
            <a:ext cx="83433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But why?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aphicFrame>
        <p:nvGraphicFramePr>
          <p:cNvPr id="175" name="Google Shape;175;g3a12bdd8b8e_3_14"/>
          <p:cNvGraphicFramePr/>
          <p:nvPr/>
        </p:nvGraphicFramePr>
        <p:xfrm>
          <a:off x="998575" y="194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{9D74AA58-8420-49D2-813C-30D30FF1ACAB}</a:tableStyleId>
              </a:tblPr>
              <a:tblGrid>
                <a:gridCol w="5097425"/>
                <a:gridCol w="5097425"/>
              </a:tblGrid>
              <a:tr h="7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Pros</a:t>
                      </a:r>
                      <a:endParaRPr sz="20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Cons</a:t>
                      </a:r>
                      <a:endParaRPr sz="20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 anchor="ctr"/>
                </a:tc>
              </a:tr>
              <a:tr h="2731025">
                <a:tc>
                  <a:txBody>
                    <a:bodyPr/>
                    <a:lstStyle/>
                    <a:p>
                      <a:pPr indent="-355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Spectral"/>
                        <a:buChar char="-"/>
                      </a:pPr>
                      <a:r>
                        <a:rPr lang="en-US" sz="20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can be customized to meet the risk tolerance and desired profit of the investor</a:t>
                      </a:r>
                      <a:endParaRPr sz="20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-355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Spectral"/>
                        <a:buChar char="-"/>
                      </a:pPr>
                      <a:r>
                        <a:rPr lang="en-US" sz="20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exotic options can help offset risk in portfolio</a:t>
                      </a:r>
                      <a:endParaRPr sz="20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55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Spectral"/>
                        <a:buChar char="-"/>
                      </a:pPr>
                      <a:r>
                        <a:rPr lang="en-US" sz="20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some exotics do not guarantee profit</a:t>
                      </a:r>
                      <a:endParaRPr sz="20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-355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Spectral"/>
                        <a:buChar char="-"/>
                      </a:pPr>
                      <a:r>
                        <a:rPr lang="en-US" sz="20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since they are more complicated, reaction of price moves to market events can be different than traditional options</a:t>
                      </a:r>
                      <a:endParaRPr sz="20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0a9c9f1d3_1_0"/>
          <p:cNvSpPr txBox="1"/>
          <p:nvPr>
            <p:ph type="ctrTitle"/>
          </p:nvPr>
        </p:nvSpPr>
        <p:spPr>
          <a:xfrm>
            <a:off x="6991350" y="863600"/>
            <a:ext cx="4854300" cy="3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Examples of Exotic Options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12bdd8b8e_2_0"/>
          <p:cNvSpPr txBox="1"/>
          <p:nvPr/>
        </p:nvSpPr>
        <p:spPr>
          <a:xfrm>
            <a:off x="1705325" y="861825"/>
            <a:ext cx="83433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Path Dependent vs. Path Independent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88" name="Google Shape;188;g3a12bdd8b8e_2_0"/>
          <p:cNvSpPr txBox="1"/>
          <p:nvPr/>
        </p:nvSpPr>
        <p:spPr>
          <a:xfrm>
            <a:off x="230225" y="1925375"/>
            <a:ext cx="11293500" cy="3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●"/>
            </a:pPr>
            <a:r>
              <a:rPr lang="en-US" sz="2800" u="sng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Path Independent: </a:t>
            </a: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If the value of the option only depends on final price of the underlying asset.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○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These are like the “vanilla” American and European options we’ve looked at before.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●"/>
            </a:pPr>
            <a:r>
              <a:rPr lang="en-US" sz="2800" u="sng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Path Dependent: </a:t>
            </a: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Value of the option is determined using prices leading up to and possibly including the final price of the option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sz="2800" u="sng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endParaRPr sz="2800" u="sng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12bdd8b8e_2_7"/>
          <p:cNvSpPr txBox="1"/>
          <p:nvPr/>
        </p:nvSpPr>
        <p:spPr>
          <a:xfrm>
            <a:off x="348400" y="220025"/>
            <a:ext cx="83433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Lookback Options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95" name="Google Shape;195;g3a12bdd8b8e_2_7"/>
          <p:cNvSpPr txBox="1"/>
          <p:nvPr/>
        </p:nvSpPr>
        <p:spPr>
          <a:xfrm>
            <a:off x="230225" y="1045325"/>
            <a:ext cx="11293500" cy="55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●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These are </a:t>
            </a:r>
            <a:r>
              <a:rPr i="1"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path dependent </a:t>
            </a: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options that allow you to “look back” to the optimal value of the option and exercise the option with that price (max/min).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●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This is </a:t>
            </a:r>
            <a:r>
              <a:rPr i="1"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incredibly powerful </a:t>
            </a: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since they give you the power of hindsight in financial markets.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○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Because of this, the premiums are very high which factors in when considering profitable trades.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●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They also have floating/fixed strike price variants.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○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Fixed: Have a strike price, then pick max/min to buy/sell at.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○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Floating: Strike price is the max/min where then you take time at expiry like in vanilla options.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12bdd8b8e_2_14"/>
          <p:cNvSpPr txBox="1"/>
          <p:nvPr/>
        </p:nvSpPr>
        <p:spPr>
          <a:xfrm>
            <a:off x="348400" y="220025"/>
            <a:ext cx="83433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Payoffs For Lookback Options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02" name="Google Shape;202;g3a12bdd8b8e_2_14"/>
          <p:cNvSpPr txBox="1"/>
          <p:nvPr/>
        </p:nvSpPr>
        <p:spPr>
          <a:xfrm>
            <a:off x="230225" y="1045325"/>
            <a:ext cx="11293500" cy="55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●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Floating Strike Call and Put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●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Fixed Strike Call and Put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203" name="Google Shape;203;g3a12bdd8b8e_2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80907"/>
            <a:ext cx="12191999" cy="495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3a12bdd8b8e_2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8650" y="4181800"/>
            <a:ext cx="10172700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0fe1b2c75_0_201"/>
          <p:cNvSpPr txBox="1"/>
          <p:nvPr/>
        </p:nvSpPr>
        <p:spPr>
          <a:xfrm>
            <a:off x="1705325" y="861825"/>
            <a:ext cx="83433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Rainbow/Basket Options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11" name="Google Shape;211;g3a0fe1b2c75_0_201"/>
          <p:cNvSpPr txBox="1"/>
          <p:nvPr/>
        </p:nvSpPr>
        <p:spPr>
          <a:xfrm>
            <a:off x="230225" y="1925375"/>
            <a:ext cx="11293500" cy="3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●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Catch all term for a Call or Put on the “best/worst of </a:t>
            </a:r>
            <a:r>
              <a:rPr i="1"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n</a:t>
            </a: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underlying assets”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●"/>
            </a:pPr>
            <a:r>
              <a:rPr lang="en-US" sz="2800" u="sng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Ex:</a:t>
            </a: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Take FTSE 100, Nikkei, and S&amp;P 500; we then pay off the difference between the strike price and the index which has risen the most.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●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Can also “weight” the above at, say, 50%, 30%, and 20%, these are called </a:t>
            </a:r>
            <a:r>
              <a:rPr i="1"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Basket </a:t>
            </a: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options.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0fe1b2c75_0_208"/>
          <p:cNvSpPr txBox="1"/>
          <p:nvPr/>
        </p:nvSpPr>
        <p:spPr>
          <a:xfrm>
            <a:off x="1705325" y="861825"/>
            <a:ext cx="83433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Asian Options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18" name="Google Shape;218;g3a0fe1b2c75_0_208"/>
          <p:cNvSpPr txBox="1"/>
          <p:nvPr/>
        </p:nvSpPr>
        <p:spPr>
          <a:xfrm>
            <a:off x="230225" y="1925375"/>
            <a:ext cx="11293500" cy="3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●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Payoff is determined by the average of the underlying price over a period of time. *Path Dependent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●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Typically the arithmetic mean but can be geometric.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●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We can have Asian American and Asian European options, their definitions do not restrict each other.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12bdd8b8e_2_32"/>
          <p:cNvSpPr txBox="1"/>
          <p:nvPr/>
        </p:nvSpPr>
        <p:spPr>
          <a:xfrm>
            <a:off x="1705325" y="861825"/>
            <a:ext cx="83433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Bermuda-Style</a:t>
            </a: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Options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25" name="Google Shape;225;g3a12bdd8b8e_2_32"/>
          <p:cNvSpPr txBox="1"/>
          <p:nvPr/>
        </p:nvSpPr>
        <p:spPr>
          <a:xfrm>
            <a:off x="230225" y="1925375"/>
            <a:ext cx="112935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●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Somewhat of a middle ground between American and European options, they allow for discrete execution times.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●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You buy the option, and for example, at the end of each quarter you have the opportunity to </a:t>
            </a: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exercise</a:t>
            </a: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that option. 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26" name="Google Shape;226;g3a12bdd8b8e_2_32"/>
          <p:cNvSpPr txBox="1"/>
          <p:nvPr/>
        </p:nvSpPr>
        <p:spPr>
          <a:xfrm>
            <a:off x="1705325" y="4034075"/>
            <a:ext cx="83433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Canary</a:t>
            </a: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-Style Options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27" name="Google Shape;227;g3a12bdd8b8e_2_32"/>
          <p:cNvSpPr txBox="1"/>
          <p:nvPr/>
        </p:nvSpPr>
        <p:spPr>
          <a:xfrm>
            <a:off x="449250" y="4749300"/>
            <a:ext cx="112935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●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Again a middle ground between Bermuda and European options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●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Allows for the holder to </a:t>
            </a: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exercise</a:t>
            </a: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the option at regular intervals (Bermuda), but only after some period of time has past (usually a year with quarterly Bermuda intervals)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0c3803f45_0_5"/>
          <p:cNvSpPr txBox="1"/>
          <p:nvPr>
            <p:ph type="ctrTitle"/>
          </p:nvPr>
        </p:nvSpPr>
        <p:spPr>
          <a:xfrm>
            <a:off x="6991350" y="863600"/>
            <a:ext cx="4179600" cy="3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Example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12bdd8b8e_3_35"/>
          <p:cNvSpPr txBox="1"/>
          <p:nvPr/>
        </p:nvSpPr>
        <p:spPr>
          <a:xfrm>
            <a:off x="1705325" y="861825"/>
            <a:ext cx="83433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40" name="Google Shape;240;g3a12bdd8b8e_3_35"/>
          <p:cNvSpPr txBox="1"/>
          <p:nvPr/>
        </p:nvSpPr>
        <p:spPr>
          <a:xfrm>
            <a:off x="230225" y="1925375"/>
            <a:ext cx="11293500" cy="3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Bob owns equity shares in Apple. He bought Apple at $150 per share, and wants to protect the position in case AAPL falls.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Bob buys a Bermuda-style put option that expires in three months, with a strike price of $150.  The option premium costs $2, or $200, since one option contract equals 100 shares.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162587e1d_3_0"/>
          <p:cNvSpPr txBox="1"/>
          <p:nvPr/>
        </p:nvSpPr>
        <p:spPr>
          <a:xfrm>
            <a:off x="1705325" y="861825"/>
            <a:ext cx="83433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47" name="Google Shape;247;g3a162587e1d_3_0"/>
          <p:cNvSpPr txBox="1"/>
          <p:nvPr/>
        </p:nvSpPr>
        <p:spPr>
          <a:xfrm>
            <a:off x="230225" y="1925375"/>
            <a:ext cx="11293500" cy="3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The option protects the stock position from a decrease in price below $150 for the next 3 months. However, this Bermuda option has an exotic feature, allowing the investor to exercise early on the first of each month until expiry.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0c3803f45_0_0"/>
          <p:cNvSpPr txBox="1"/>
          <p:nvPr>
            <p:ph type="ctrTitle"/>
          </p:nvPr>
        </p:nvSpPr>
        <p:spPr>
          <a:xfrm>
            <a:off x="6991350" y="863600"/>
            <a:ext cx="4179600" cy="3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Risks of Exotics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12bdd8b8e_0_0"/>
          <p:cNvSpPr txBox="1"/>
          <p:nvPr/>
        </p:nvSpPr>
        <p:spPr>
          <a:xfrm>
            <a:off x="1705325" y="861825"/>
            <a:ext cx="83433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Liquidity Risk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60" name="Google Shape;260;g3a12bdd8b8e_0_0"/>
          <p:cNvSpPr txBox="1"/>
          <p:nvPr/>
        </p:nvSpPr>
        <p:spPr>
          <a:xfrm>
            <a:off x="230225" y="1925375"/>
            <a:ext cx="11293500" cy="3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●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Exotic options are often OTC contracts rather than exchange traded, meaning few buyers and sellers, making it hard to exit or hedge positions before expiration.</a:t>
            </a:r>
            <a:b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</a:b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●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Wide bid-ask spreads and lack of secondary markets increase costs.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12bdd8b8e_0_8"/>
          <p:cNvSpPr txBox="1"/>
          <p:nvPr/>
        </p:nvSpPr>
        <p:spPr>
          <a:xfrm>
            <a:off x="1705325" y="861825"/>
            <a:ext cx="83433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Regulatory</a:t>
            </a: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Risk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67" name="Google Shape;267;g3a12bdd8b8e_0_8"/>
          <p:cNvSpPr txBox="1"/>
          <p:nvPr/>
        </p:nvSpPr>
        <p:spPr>
          <a:xfrm>
            <a:off x="230225" y="1925375"/>
            <a:ext cx="11293500" cy="3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●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Exotic options are often OTC contracts rather than exchange traded, meaning few buyers and sellers, making it hard to exit or hedge positions before expiration.</a:t>
            </a:r>
            <a:b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</a:b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tral"/>
              <a:buChar char="●"/>
            </a:pPr>
            <a:r>
              <a:rPr lang="en-US" sz="28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Wide bid-ask spreads and lack of secondary markets increase costs.</a:t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8980c813b1_0_0"/>
          <p:cNvSpPr txBox="1"/>
          <p:nvPr>
            <p:ph idx="12" type="sldNum"/>
          </p:nvPr>
        </p:nvSpPr>
        <p:spPr>
          <a:xfrm>
            <a:off x="10373350" y="6356349"/>
            <a:ext cx="98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g28980c813b1_0_0"/>
          <p:cNvSpPr txBox="1"/>
          <p:nvPr/>
        </p:nvSpPr>
        <p:spPr>
          <a:xfrm>
            <a:off x="3836700" y="1262554"/>
            <a:ext cx="4518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Social Links</a:t>
            </a:r>
            <a:endParaRPr b="0" i="0" sz="3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275" name="Google Shape;275;g28980c813b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2387" y="3737875"/>
            <a:ext cx="837650" cy="83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28980c813b1_0_0"/>
          <p:cNvSpPr txBox="1"/>
          <p:nvPr/>
        </p:nvSpPr>
        <p:spPr>
          <a:xfrm>
            <a:off x="5411600" y="2648988"/>
            <a:ext cx="260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@cwruquants</a:t>
            </a:r>
            <a:endParaRPr b="0" i="0" sz="28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77" name="Google Shape;277;g28980c813b1_0_0"/>
          <p:cNvSpPr txBox="1"/>
          <p:nvPr/>
        </p:nvSpPr>
        <p:spPr>
          <a:xfrm>
            <a:off x="5411600" y="3848888"/>
            <a:ext cx="260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@cwruquants</a:t>
            </a:r>
            <a:endParaRPr b="0" i="0" sz="28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278" name="Google Shape;278;g28980c813b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2385" y="5064780"/>
            <a:ext cx="837652" cy="83766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g28980c813b1_0_0"/>
          <p:cNvSpPr txBox="1"/>
          <p:nvPr/>
        </p:nvSpPr>
        <p:spPr>
          <a:xfrm>
            <a:off x="5411600" y="5087100"/>
            <a:ext cx="260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@cwruquants</a:t>
            </a:r>
            <a:endParaRPr b="0" i="0" sz="28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280" name="Google Shape;280;g28980c813b1_0_0" title="Screenshot 2025-09-04 at 9.45.45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12375" y="2537975"/>
            <a:ext cx="837650" cy="83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"/>
          <p:cNvSpPr txBox="1"/>
          <p:nvPr>
            <p:ph type="ctrTitle"/>
          </p:nvPr>
        </p:nvSpPr>
        <p:spPr>
          <a:xfrm>
            <a:off x="4267200" y="1463336"/>
            <a:ext cx="4179600" cy="1524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QUESTIONS 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AND ANSWERS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87" name="Google Shape;287;p13"/>
          <p:cNvSpPr txBox="1"/>
          <p:nvPr>
            <p:ph idx="1" type="subTitle"/>
          </p:nvPr>
        </p:nvSpPr>
        <p:spPr>
          <a:xfrm>
            <a:off x="4267200" y="3923903"/>
            <a:ext cx="4179600" cy="28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Contact us!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Email: quants@case.edu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Instagram: @cwruquants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2024-09-03T21:39:53Z</dcterms:created>
  <dc:creator>Sidharth Jindal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